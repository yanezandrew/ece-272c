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Orchestrated AI Analytics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366F1"/>
                </a:solidFill>
              </a:rPr>
              <a:t>ECE 157C / ECE 272C — Homework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200+ Financial Indicators of US Stocks (2014–2018)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Andrew Yanez · May 31,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743200" cy="51206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Orchestration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Routes every question to analytics pipeline
or DuckDuckGo web search. Drives validator
retry loop (max 3 attempts).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05840"/>
            <a:ext cx="2743200" cy="51206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Enhanced Analytics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916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Autonomously inspects datasets, generates
&amp; executes Python in a persistent sandbox,
decides when the analysis is complete.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743200" cy="51206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HW3 Validator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Independent semantic checker — reasons
about correctness &amp; completeness, returns
PASS / RETRY / SUSPICIOUS.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005840"/>
            <a:ext cx="2743200" cy="51206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20" y="100584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Web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6916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DuckDuckGo via LangChain for generic
questions. Returns grounded answer
with source citations.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User Question → Orchestrator → Analytics Agent ↔ Validator  |  or  |  Orchestrator → Web Search → Final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5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2014 – 2018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914400"/>
            <a:ext cx="2743200" cy="13716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005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~4,400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avg stocks/year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2743200" cy="13716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05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225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columns per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914400"/>
            <a:ext cx="2743200" cy="13716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005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sectors covered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3657600" cy="1645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Income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1012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Net Income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02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953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Gross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879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EBITDA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560320"/>
            <a:ext cx="3657600" cy="1645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Balance 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0175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Total Assets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31012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Total Debt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602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Cash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8953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Shareholders Equity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560320"/>
            <a:ext cx="3657600" cy="1645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Profitability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0175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Gross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1012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Net Profit Margin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6027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ROE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8953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ROA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1879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ROIC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480560"/>
            <a:ext cx="3657600" cy="1645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937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PE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2303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PB Ratio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229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EV/EBITDA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81558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Debt to Equity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4480560"/>
            <a:ext cx="3657600" cy="1645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Growth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4937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Revenue Growth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52303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EPS Growth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55229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3Y/5Y/10Y Series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4480560"/>
            <a:ext cx="3657600" cy="1645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Target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937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Class (1=outperformed next yr)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2303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Next-year price var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Analytics Scenario: Technology Sector Deep Dive (2014–2016)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5-turn continuous conversation exploring Technology sector performance across three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240280" cy="52120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2402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Turn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91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Top 10 Tech stocks by
market cap in 2014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606040"/>
            <a:ext cx="2011680" cy="27432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606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</a:rPr>
              <a:t>Validator: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9718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Apple $599B, Google $360B,
Microsoft $344B led the 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280160"/>
            <a:ext cx="2240280" cy="52120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280160"/>
            <a:ext cx="22402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Turn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691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Average revenue trend of
those stocks (2014–2016)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606040"/>
            <a:ext cx="2011680" cy="27432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2606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</a:rPr>
              <a:t>Validator: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9718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$3.89B → $4.10B → $4.23B
+$345M total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280160"/>
            <a:ext cx="2240280" cy="52120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280160"/>
            <a:ext cx="22402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Turn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1691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Net profit margin:
Tech vs Healthcare 2014–2016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8" y="2606040"/>
            <a:ext cx="2011680" cy="27432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606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DE68A"/>
                </a:solidFill>
              </a:rPr>
              <a:t>Validator: SUSPICIOUS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9718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Chart/text inconsistency flagged
by validator (column mismatch)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1280160"/>
            <a:ext cx="2240280" cy="52120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1280160"/>
            <a:ext cx="22402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368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Turn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1691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Highest EPS Growth in
Technology sector (2016)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16368" y="2606040"/>
            <a:ext cx="2011680" cy="27432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8" y="2606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</a:rPr>
              <a:t>Validator: 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29718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IEC 100%, SPSC 68.5%,
DIOD 53.25%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280160"/>
            <a:ext cx="2240280" cy="52120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4080" y="1280160"/>
            <a:ext cx="22402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93808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Turn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1691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Most undervalued Tech stocks
(PE, ROE, Rev Growth 2016)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3808" y="2606040"/>
            <a:ext cx="2011680" cy="27432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93808" y="2606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DE68A"/>
                </a:solidFill>
              </a:rPr>
              <a:t>Validator: SUSPICIOUS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808" y="29718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PE=0 stocks flagged as
misleading by validator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Finding 1: Technology Sector Revenue Growth (2014–2016)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286000" cy="1645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366F1"/>
                </a:solidFill>
              </a:rPr>
              <a:t>$3.89B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0"/>
            <a:ext cx="2286000" cy="1645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05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371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366F1"/>
                </a:solidFill>
              </a:rPr>
              <a:t>$4.10B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914400"/>
            <a:ext cx="2286000" cy="1645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005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371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366F1"/>
                </a:solidFill>
              </a:rPr>
              <a:t>$4.23B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6EFAC"/>
                </a:solidFill>
              </a:rPr>
              <a:t>↑ +8.7% total growth over two years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7315200" cy="28346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Key Observations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Top 10 Tech stocks (by 2014 market cap) grew average revenue consistently year-over-year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9592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Apple, Google, and Microsoft accounted for the majority of aggregate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88536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Revenue growth was steady even as broader market conditions shifted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81144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Cross-year analysis performed by joining 2014, 2015, and 2016 CSV files on ticker 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914400"/>
            <a:ext cx="3840480" cy="52120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051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Stocks Analyzed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3716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• Top 10 by 2014 Market Cap: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6642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• AAPL · GOOGL · MSFT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9568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• FB · TSM · ORCL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494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• INTC · IBM · AMZN · SAP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Finding 2: Technology Sector EPS Growth Leaders (2016)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474720" cy="20116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1st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366F1"/>
                </a:solidFill>
              </a:rPr>
              <a:t>IEC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100.00%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EPS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914400"/>
            <a:ext cx="3474720" cy="20116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2nd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325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18CF8"/>
                </a:solidFill>
              </a:rPr>
              <a:t>SPSC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 68.50%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EPS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914400"/>
            <a:ext cx="3474720" cy="20116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3rd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325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A5B4FC"/>
                </a:solidFill>
              </a:rPr>
              <a:t>DIOD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 53.25%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EPS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1430000" cy="33832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Analysis Details &amp; Validator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Agent loaded 2016_Financial_Data.csv, filtered Sector == 'Technology', sorted by EPS Growth descending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587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Validator initially returned RETRY — requested explicit sector-filter confirmation in the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5137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On retry, agent included sector count and column source in result — validator returned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439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Demonstrates validator improving result quality, not just checking execution success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3659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IEC's 100% EPS growth likely reflects recovery from a low/negative prior-year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Validator Agent: Catching Real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577840" cy="53035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57784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E68A"/>
                </a:solidFill>
              </a:rPr>
              <a:t>SUSPICIOUS: Chart/Text Inconsistency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Question: Compare net profit margin of Tech vs Healthcare (2014–2016)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11680"/>
            <a:ext cx="5303520" cy="393192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Text answer: Healthcare −35.05%, Tech −1.07% (negative)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Generated charts: both sectors showed ~+1.0 (positive!)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540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Root cause: agent used 'Net Profit Margin' for text but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  'netProfitMargin' (different column, ~1.0) for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93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Validator flagged internal contradiction correctly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Retried 3× — column ambiguity persisted across all attempts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914400"/>
            <a:ext cx="5577840" cy="53035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914400"/>
            <a:ext cx="557784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E68A"/>
                </a:solidFill>
              </a:rPr>
              <a:t>RETRY: Incomplete Multi-Step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Question: Top 10 revenue-growth stocks in 2015 → how many Class=1 in 2016?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011680"/>
            <a:ext cx="5303520" cy="393192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148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</a:rPr>
              <a:t>What happened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4688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Agent answered '5 out of 10 outperformed' (50%)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7614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Validator: no ticker list shown, no join result table,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0540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  no visualization, 50% figure unsubstantiated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3467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Retried 3× — agent continued summarizing without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6393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  surfacing the underlying cross-year join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9319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</a:rPr>
              <a:t>• Final output accepted after max retries exhausted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Web Search: Generic-Domain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25603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Q: What caused the 2016 oil-price crash?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The crash was driven by a near-doubling of U.S. oil production from 2008 levels due to shale fracking technology improvements. This created a global oversupply, collapsed prices, and diminished OPEC's ability to control markets.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Sources: Wikipedia – 2010s oil glut · Wikipedia – 2014–2016 oil market chronology · Investopedia · Wikipedia – Price of oil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840480"/>
            <a:ext cx="11612880" cy="25603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Q: What is NVIDIA's primary business segment?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</a:rPr>
              <a:t>NVIDIA's primary segment is Data Center, which has become the dominant revenue driver due to explosive demand for AI infrastructure from hyperscalers including Microsoft, Amazon, Google, and Meta.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Sources: MarketScreener · StockDividendScreener · Investopedia – How Nvidia Makes Money · FourWeekMBA · PitchGrade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Routing: Orchestrator classified both as 'web' → DuckDuckGo retrieved 5 results → GPT-4o synthesized grounded answer → citations returned to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Lessons Learned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27432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</a:rP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Providing all 225 column names in the prompt was essential — early tests with only 20 columns caused systematic hallucinations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Validator's SUSPICIOUS verdict for chart/text inconsistency proved more valuable than simple execution-success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Stopping condition evaluation must be separate from code generation to avoid conflating 'code ran' with 'question answered'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Cross-year joins produce _x/_y column suffixes — LLMs need explicit guidance to handle this reliably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PE=0 stocks are unprofitable, not undervalued — domain-specific checks in the validator prompt are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31920"/>
            <a:ext cx="11612880" cy="26517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Add a data-cleaning pre-step that resolves duplicate column names before analysis begins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817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Provide cross-year join templates in the analytics agent prompt to handle _x/_y suffixes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743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Add confidence scoring to validator verdicts — surface SUSPICIOUS as a warning rather than always retrying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6694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Stream intermediate execution results to the frontend so users see iteration progress in real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595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• Support natural language SQL queries across yearly tables for more reliable multi-table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9601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0972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GPT-4o classifier routes every question to analytics pipeline or DuckDuckGo web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84832"/>
            <a:ext cx="11612880" cy="9601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Iterative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7627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Persistent Python sandbox with up to 5 reasoning/execution iterations per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63824"/>
            <a:ext cx="11612880" cy="9601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552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Semantic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55264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Independent validator reasons about correctness, completeness, and numerical consistency — not just execution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42816"/>
            <a:ext cx="11612880" cy="9601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3342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Temporal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34256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5-year dataset (2014–2018) enables cross-year joins, trend detection, and sector comparisons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321808"/>
            <a:ext cx="11612880" cy="9601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4132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413248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</a:rPr>
              <a:t>FastAPI backend + SSE streaming + chatbot UI extended from HW2 with year filters, validator badges, citations, and agent traces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